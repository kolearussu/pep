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A839"/>
    <a:srgbClr val="69B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howGuides="1">
      <p:cViewPr varScale="1">
        <p:scale>
          <a:sx n="107" d="100"/>
          <a:sy n="107" d="100"/>
        </p:scale>
        <p:origin x="198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354F5-061E-4751-ADB5-C1245098B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0140CB-528D-4FA2-916E-D6FAF1F5D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94CB40-CE84-4505-98C1-E244F647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D72D7-14D8-41ED-9F73-A6CAA443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DB4CD3-AC3D-455F-8AD0-3A478966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67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4305F-A270-4B1C-BC95-5F01BF4B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0FD152-1D31-4AF5-A5BB-9AC0A6B40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0B6885-F39F-4CD2-865A-7050F37D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AD83C4-44A5-4F17-8830-28B5DCDA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36DAC-401F-47C4-B621-8F134E40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6648354-3FFC-45FA-8EF2-ED7FF88A7546}"/>
              </a:ext>
            </a:extLst>
          </p:cNvPr>
          <p:cNvSpPr/>
          <p:nvPr userDrawn="1"/>
        </p:nvSpPr>
        <p:spPr>
          <a:xfrm>
            <a:off x="4836000" y="6361400"/>
            <a:ext cx="7356000" cy="532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A2A526-49D8-416B-9145-AF48A1F30566}"/>
              </a:ext>
            </a:extLst>
          </p:cNvPr>
          <p:cNvSpPr/>
          <p:nvPr userDrawn="1"/>
        </p:nvSpPr>
        <p:spPr>
          <a:xfrm>
            <a:off x="0" y="1740188"/>
            <a:ext cx="606000" cy="515381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35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92617-97CC-475C-B168-B16A7D70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F28333-4562-4FDC-BDD0-0F64FE799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4CC2F4-1F0A-426C-A49D-3DC308A7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D42F8B-0000-43CA-AD35-C72F35F0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A0C6EA-71BE-4CC4-93D4-9C47C5BB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52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A8B5B-9D14-4205-88AD-32FB8624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F0A718-E508-46B3-A23F-2BECEAF91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3AD259-07E6-47C0-8F69-7CF725200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F19AD5-182D-4646-A6F0-D4B32C4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5D8F99-B7C1-4A24-A260-33A24092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9F35D-F5AD-4D2B-A81C-B7A09821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359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75B666-56EB-4BC3-A2DA-3F26BD5CBF9B}"/>
              </a:ext>
            </a:extLst>
          </p:cNvPr>
          <p:cNvSpPr/>
          <p:nvPr userDrawn="1"/>
        </p:nvSpPr>
        <p:spPr>
          <a:xfrm>
            <a:off x="2091000" y="447750"/>
            <a:ext cx="9675000" cy="5962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848B91CB-D8C9-4DA9-8CED-26CE57EE3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" y="1021555"/>
            <a:ext cx="3420000" cy="4814887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E73841-EE02-4C80-87BF-07D6556EAF56}"/>
              </a:ext>
            </a:extLst>
          </p:cNvPr>
          <p:cNvSpPr/>
          <p:nvPr userDrawn="1"/>
        </p:nvSpPr>
        <p:spPr>
          <a:xfrm>
            <a:off x="3862862" y="1172162"/>
            <a:ext cx="652675" cy="4320000"/>
          </a:xfrm>
          <a:prstGeom prst="rect">
            <a:avLst/>
          </a:prstGeom>
          <a:pattFill prst="pct5">
            <a:fgClr>
              <a:schemeClr val="bg1"/>
            </a:fgClr>
            <a:bgClr>
              <a:srgbClr val="55A83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B65CF81-B173-4646-A374-B2745ECC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000" y="1578587"/>
            <a:ext cx="6525000" cy="1325563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2850" y="3330574"/>
            <a:ext cx="6525000" cy="132556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44795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75B666-56EB-4BC3-A2DA-3F26BD5CBF9B}"/>
              </a:ext>
            </a:extLst>
          </p:cNvPr>
          <p:cNvSpPr/>
          <p:nvPr userDrawn="1"/>
        </p:nvSpPr>
        <p:spPr>
          <a:xfrm>
            <a:off x="381000" y="447748"/>
            <a:ext cx="9675000" cy="5962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848B91CB-D8C9-4DA9-8CED-26CE57EE3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1000" y="1021554"/>
            <a:ext cx="4098388" cy="4814887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B65CF81-B173-4646-A374-B2745ECC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97" y="1008954"/>
            <a:ext cx="6525000" cy="1325563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747" y="2574000"/>
            <a:ext cx="6525000" cy="326244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85620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75B666-56EB-4BC3-A2DA-3F26BD5CBF9B}"/>
              </a:ext>
            </a:extLst>
          </p:cNvPr>
          <p:cNvSpPr/>
          <p:nvPr userDrawn="1"/>
        </p:nvSpPr>
        <p:spPr>
          <a:xfrm>
            <a:off x="8031000" y="447747"/>
            <a:ext cx="3735000" cy="5962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848B91CB-D8C9-4DA9-8CED-26CE57EE3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8502" y="3654002"/>
            <a:ext cx="6525000" cy="260999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B65CF81-B173-4646-A374-B2745ECC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01" y="594001"/>
            <a:ext cx="6525000" cy="855000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8501" y="1764001"/>
            <a:ext cx="6525000" cy="1685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9007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75B666-56EB-4BC3-A2DA-3F26BD5CBF9B}"/>
              </a:ext>
            </a:extLst>
          </p:cNvPr>
          <p:cNvSpPr/>
          <p:nvPr userDrawn="1"/>
        </p:nvSpPr>
        <p:spPr>
          <a:xfrm flipH="1">
            <a:off x="0" y="0"/>
            <a:ext cx="20910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848B91CB-D8C9-4DA9-8CED-26CE57EE3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" y="369001"/>
            <a:ext cx="4050000" cy="6165000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2850" y="864000"/>
            <a:ext cx="6918150" cy="5265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189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848B91CB-D8C9-4DA9-8CED-26CE57EE3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6000" y="594000"/>
            <a:ext cx="4140000" cy="5714999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B65CF81-B173-4646-A374-B2745ECC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01" y="594001"/>
            <a:ext cx="6525000" cy="855000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8501" y="1764001"/>
            <a:ext cx="6525000" cy="1685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44A2944D-4376-4EA8-B7C1-B1C6B47FD3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66001" y="4079565"/>
            <a:ext cx="4140000" cy="2544434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35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B65CF81-B173-4646-A374-B2745ECC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49" y="594001"/>
            <a:ext cx="6493500" cy="855000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0949" y="1736324"/>
            <a:ext cx="6525000" cy="855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ADD62E3-6759-4646-858D-375433F62C6C}"/>
              </a:ext>
            </a:extLst>
          </p:cNvPr>
          <p:cNvSpPr/>
          <p:nvPr userDrawn="1"/>
        </p:nvSpPr>
        <p:spPr>
          <a:xfrm flipH="1">
            <a:off x="-1" y="6308998"/>
            <a:ext cx="7423501" cy="54900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C2B4DA70-53E7-4B96-A26A-9E85A3ED9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5999" y="594001"/>
            <a:ext cx="4410001" cy="566999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44A2944D-4376-4EA8-B7C1-B1C6B47FD3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2449" y="2915548"/>
            <a:ext cx="2970897" cy="366794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Рисунок 7">
            <a:extLst>
              <a:ext uri="{FF2B5EF4-FFF2-40B4-BE49-F238E27FC236}">
                <a16:creationId xmlns:a16="http://schemas.microsoft.com/office/drawing/2014/main" id="{545BF82E-0005-4C40-9F7D-EF474BCD32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0448" y="2915547"/>
            <a:ext cx="2970897" cy="3667949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B65CF81-B173-4646-A374-B2745ECC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74" y="363655"/>
            <a:ext cx="7261501" cy="855000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1819EB9-C582-4395-9B13-E428103A3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8574" y="1407123"/>
            <a:ext cx="7261501" cy="1685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07EE5E-7454-44BB-974A-F0ECC381C2BF}"/>
              </a:ext>
            </a:extLst>
          </p:cNvPr>
          <p:cNvSpPr/>
          <p:nvPr userDrawn="1"/>
        </p:nvSpPr>
        <p:spPr>
          <a:xfrm flipH="1">
            <a:off x="364496" y="3159001"/>
            <a:ext cx="11860355" cy="33459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Рисунок 7">
            <a:extLst>
              <a:ext uri="{FF2B5EF4-FFF2-40B4-BE49-F238E27FC236}">
                <a16:creationId xmlns:a16="http://schemas.microsoft.com/office/drawing/2014/main" id="{F1016137-3C71-4CC5-8D39-5B331A8FB3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951" y="729000"/>
            <a:ext cx="3698551" cy="5306698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407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07EE5E-7454-44BB-974A-F0ECC381C2BF}"/>
              </a:ext>
            </a:extLst>
          </p:cNvPr>
          <p:cNvSpPr/>
          <p:nvPr userDrawn="1"/>
        </p:nvSpPr>
        <p:spPr>
          <a:xfrm flipH="1" flipV="1">
            <a:off x="-2" y="-2"/>
            <a:ext cx="12224851" cy="342900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Рисунок 7">
            <a:extLst>
              <a:ext uri="{FF2B5EF4-FFF2-40B4-BE49-F238E27FC236}">
                <a16:creationId xmlns:a16="http://schemas.microsoft.com/office/drawing/2014/main" id="{F1016137-3C71-4CC5-8D39-5B331A8FB3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724" y="440624"/>
            <a:ext cx="3698551" cy="5868376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Текст 11">
            <a:extLst>
              <a:ext uri="{FF2B5EF4-FFF2-40B4-BE49-F238E27FC236}">
                <a16:creationId xmlns:a16="http://schemas.microsoft.com/office/drawing/2014/main" id="{9160C400-2233-4E4D-A368-4290EA142A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9917" y="1584000"/>
            <a:ext cx="7261501" cy="1685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1" name="Текст 11">
            <a:extLst>
              <a:ext uri="{FF2B5EF4-FFF2-40B4-BE49-F238E27FC236}">
                <a16:creationId xmlns:a16="http://schemas.microsoft.com/office/drawing/2014/main" id="{754F3962-98E8-4124-9F3B-E312F367A8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6001" y="3617466"/>
            <a:ext cx="7261501" cy="269153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077FD-7CCC-4AC8-9F72-74535704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001" y="388935"/>
            <a:ext cx="7275418" cy="11950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27909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07EE5E-7454-44BB-974A-F0ECC381C2BF}"/>
              </a:ext>
            </a:extLst>
          </p:cNvPr>
          <p:cNvSpPr/>
          <p:nvPr userDrawn="1"/>
        </p:nvSpPr>
        <p:spPr>
          <a:xfrm flipH="1" flipV="1">
            <a:off x="-3" y="-3"/>
            <a:ext cx="12224851" cy="685800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94825C-1044-450A-8E35-14455AD09C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6650" y="3429000"/>
            <a:ext cx="7334250" cy="14843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4C9FB-B954-402C-8866-2914B60C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75" y="1944000"/>
            <a:ext cx="10515600" cy="1325563"/>
          </a:xfrm>
        </p:spPr>
        <p:txBody>
          <a:bodyPr/>
          <a:lstStyle>
            <a:lvl1pPr algn="ctr">
              <a:defRPr b="1" i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72901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10A81-0A01-46FD-9456-91091EC2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27D4AF-8039-495C-B4B2-5396C877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2A9C07-03C4-4149-B862-1805D6B1B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29BFF2-E7E9-4FAC-BC5A-DA7114084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FD09C2-247D-42B8-BF11-F36209434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9243D8-A585-4CE4-9989-28ADA737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AFDA43-84DE-4D1F-AA5E-AB0392EE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2F2982-9CAA-4512-BDFF-94150131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893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4E8EC-8932-4AF4-B988-864471A7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A4DFAC-16FF-4B0E-B86B-58CADA6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102F3C-1400-45C3-8EA7-F4575C77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DB83A0-BE45-4ADF-9193-0629FFAD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11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E70F8D-2F26-4EAA-8784-1E19EFDD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AADDB84-A99D-47D1-97C2-F9709887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825D61-F579-44E4-A029-0596DEE3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47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F6834-F3A6-4C1A-8135-09D39EA7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46087-2B1F-4388-813A-63246B29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A791C3-CB66-41E7-B54D-F792BADA8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F05580-7B66-4198-89DF-761ADB6E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E3AB7C-8F82-45B5-9435-13B817A8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3ADD2C-5886-485B-9E26-4D0355E7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532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75656-7927-4028-8F2C-3703DE8D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065C3A-58E0-4317-A005-4CDE7A850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D513E-4780-4865-BEB2-743BEA701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E8BCAA-F398-48DA-AC84-1FC811D5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F36A85-CC79-449B-B1BF-EB7B2A6C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FD0E41-62AF-41D9-92E6-BE48FA00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967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4AB11-345A-4E71-865B-CBCDC10F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A9A25D-0929-44E8-A479-BE0C8240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7D4536-B839-4448-BF71-576542A6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8C6F98-25D8-4470-ABE7-997D0B6C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75E96-6F45-4170-B216-90D34F8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325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CA50B9-9C7F-4C4F-85C2-77A38E550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FCB700-ADCA-4646-9A1E-F2810ED72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3EAC93-BC73-4FB2-AEF7-E1F44D1C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0A4377-AC2C-4FCA-8797-73433F10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11EFFA-DB57-41B0-818A-0284AD9B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31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E7C2B-DBC7-4DC6-BE48-6CC4179A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BE3A49-B78D-4DA9-AA76-4064F858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A73D2E-8E5D-411B-B766-5E9DD0B12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ADA9-3231-4B22-B735-3A52651D148F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5E8B24-9FAC-4BFA-951E-DFC439BE9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AB0821-98F4-4674-8A81-508395B9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56CB4-3EC1-4CF1-BDF9-8FB1FCC6B65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22"/>
            <a:extLst>
              <a:ext uri="{FF2B5EF4-FFF2-40B4-BE49-F238E27FC236}">
                <a16:creationId xmlns:a16="http://schemas.microsoft.com/office/drawing/2014/main" id="{04EFABF7-9814-4A5F-B176-1A217D8D1B7A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8" r:id="rId10"/>
    <p:sldLayoutId id="2147483665" r:id="rId11"/>
    <p:sldLayoutId id="2147483666" r:id="rId12"/>
    <p:sldLayoutId id="2147483667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CCAC8E7-00F3-4768-9169-7C3B37C3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000" y="1134001"/>
            <a:ext cx="6525000" cy="177015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Franklin Gothic Heavy" panose="020B0903020102020204" pitchFamily="34" charset="0"/>
              </a:rPr>
              <a:t>Характеристика фондовой биржи в </a:t>
            </a:r>
            <a:r>
              <a:rPr lang="ru-RU" dirty="0">
                <a:solidFill>
                  <a:srgbClr val="FFC000"/>
                </a:solidFill>
                <a:latin typeface="Franklin Gothic Heavy" panose="020B0903020102020204" pitchFamily="34" charset="0"/>
              </a:rPr>
              <a:t>Республике Молдова.</a:t>
            </a:r>
            <a:endParaRPr lang="ru-RU" dirty="0">
              <a:solidFill>
                <a:srgbClr val="FFC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29F5531-D6C5-4E3D-A2DB-A37FCA9628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1000" y="5724000"/>
            <a:ext cx="6196835" cy="1043426"/>
          </a:xfrm>
        </p:spPr>
        <p:txBody>
          <a:bodyPr>
            <a:normAutofit/>
          </a:bodyPr>
          <a:lstStyle/>
          <a:p>
            <a:r>
              <a:rPr lang="ro-MD" sz="1400" b="1" dirty="0" smtClean="0"/>
              <a:t>Autor:</a:t>
            </a:r>
            <a:r>
              <a:rPr lang="ru-RU" sz="1400" b="1" dirty="0" smtClean="0"/>
              <a:t> </a:t>
            </a:r>
            <a:r>
              <a:rPr lang="ro-MD" sz="1400" b="1" dirty="0" smtClean="0"/>
              <a:t>Studentul </a:t>
            </a:r>
            <a:r>
              <a:rPr lang="ro-MD" sz="1400" b="1" dirty="0"/>
              <a:t>grupei </a:t>
            </a:r>
            <a:r>
              <a:rPr lang="ro-MD" sz="1400" b="1" dirty="0" smtClean="0"/>
              <a:t>IS11Z</a:t>
            </a:r>
            <a:r>
              <a:rPr lang="ru-RU" sz="1400" b="1" dirty="0" smtClean="0"/>
              <a:t> </a:t>
            </a:r>
            <a:r>
              <a:rPr lang="ro-MD" sz="1400" b="1" dirty="0" smtClean="0"/>
              <a:t>Nicolai </a:t>
            </a:r>
            <a:r>
              <a:rPr lang="en-US" sz="1400" b="1" dirty="0" err="1" smtClean="0"/>
              <a:t>Russu</a:t>
            </a:r>
            <a:endParaRPr lang="ru-RU" sz="1400" b="1" dirty="0"/>
          </a:p>
          <a:p>
            <a:r>
              <a:rPr lang="ro-MD" sz="1400" b="1" dirty="0" smtClean="0"/>
              <a:t>Conducător știintific:</a:t>
            </a:r>
            <a:r>
              <a:rPr lang="ru-RU" sz="1400" b="1" dirty="0" smtClean="0"/>
              <a:t> </a:t>
            </a:r>
            <a:r>
              <a:rPr lang="ro-MD" sz="1400" b="1" dirty="0" smtClean="0"/>
              <a:t>Lilia SCHISELIOV</a:t>
            </a:r>
            <a:r>
              <a:rPr lang="ru-RU" sz="1400" b="1" dirty="0" smtClean="0"/>
              <a:t> </a:t>
            </a:r>
            <a:r>
              <a:rPr lang="ro-MD" sz="1400" b="1" dirty="0" smtClean="0"/>
              <a:t>asist</a:t>
            </a:r>
            <a:r>
              <a:rPr lang="ro-MD" sz="1400" b="1" dirty="0"/>
              <a:t>. univ.</a:t>
            </a:r>
            <a:endParaRPr lang="ru-RU" sz="1400" b="1" dirty="0"/>
          </a:p>
        </p:txBody>
      </p:sp>
      <p:pic>
        <p:nvPicPr>
          <p:cNvPr id="11" name="Рисунок 1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8" r="23368"/>
          <a:stretch>
            <a:fillRect/>
          </a:stretch>
        </p:blipFill>
        <p:spPr>
          <a:xfrm>
            <a:off x="201000" y="999000"/>
            <a:ext cx="3420000" cy="4814887"/>
          </a:xfrm>
        </p:spPr>
      </p:pic>
    </p:spTree>
    <p:extLst>
      <p:ext uri="{BB962C8B-B14F-4D97-AF65-F5344CB8AC3E}">
        <p14:creationId xmlns:p14="http://schemas.microsoft.com/office/powerpoint/2010/main" val="204477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0CB8ED5-5558-4AA1-B729-D61E3613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Franklin Gothic Heavy" panose="020B0903020102020204" pitchFamily="34" charset="0"/>
              </a:rPr>
              <a:t>План </a:t>
            </a:r>
            <a:r>
              <a:rPr lang="ru-RU" dirty="0" smtClean="0">
                <a:solidFill>
                  <a:srgbClr val="FFC000"/>
                </a:solidFill>
                <a:latin typeface="Franklin Gothic Heavy" panose="020B0903020102020204" pitchFamily="34" charset="0"/>
              </a:rPr>
              <a:t>презентаций</a:t>
            </a:r>
            <a:endParaRPr lang="ru-RU" dirty="0">
              <a:solidFill>
                <a:srgbClr val="FFC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5696164-8185-4B6C-BF9A-177EEF45F7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36000" y="2169000"/>
            <a:ext cx="6614999" cy="346499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Введение</a:t>
            </a:r>
            <a:endParaRPr lang="en-US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Что такое фондовая биржа и ее функций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История Фондовой биржи Молдовы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Подразделения ФБМ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Проведение торгов на  ФБМ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Рынок ценных бумаг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Статистика ФБМ</a:t>
            </a:r>
            <a:endParaRPr lang="ru-RU" sz="1600" dirty="0"/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918E4268-1EF2-4931-842D-CEAD587B1778}"/>
              </a:ext>
            </a:extLst>
          </p:cNvPr>
          <p:cNvSpPr txBox="1">
            <a:spLocks/>
          </p:cNvSpPr>
          <p:nvPr/>
        </p:nvSpPr>
        <p:spPr>
          <a:xfrm>
            <a:off x="1444950" y="3860702"/>
            <a:ext cx="5621453" cy="1975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1762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E471C34-EC52-4443-AABF-516C4834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Введение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F744015-0687-4E46-9918-AA4B90D5C0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8501" y="1674000"/>
            <a:ext cx="6525000" cy="182099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chemeClr val="tx1"/>
                </a:solidFill>
              </a:rPr>
              <a:t>Инфраструктура фондового рынка сложна и многообразна. Важной её составляющей является рынок ценных бумаг. На данном этапе рынок ценных бумаг в Молдове в большой степени уже сформирован: есть и эмитенты ценных бумаг, многочисленные компании и предприятия, а также государство и муниципальные образования, есть и инвесторы, заинтересованные в наилучшем для себя размещении средств.</a:t>
            </a:r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3" b="7333"/>
          <a:stretch>
            <a:fillRect/>
          </a:stretch>
        </p:blipFill>
        <p:spPr bwMode="auto">
          <a:xfrm>
            <a:off x="898501" y="3654000"/>
            <a:ext cx="6525000" cy="260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71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361CA63C-6B0F-478E-AD14-AA33C8E4F2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2850" y="369000"/>
            <a:ext cx="6918150" cy="7245000"/>
          </a:xfrm>
        </p:spPr>
        <p:txBody>
          <a:bodyPr>
            <a:normAutofit fontScale="92500" lnSpcReduction="10000"/>
          </a:bodyPr>
          <a:lstStyle/>
          <a:p>
            <a:r>
              <a:rPr lang="ru-RU" sz="3800" b="1" dirty="0" smtClean="0">
                <a:solidFill>
                  <a:schemeClr val="tx1"/>
                </a:solidFill>
                <a:latin typeface="Franklin Gothic Heavy" panose="020B0903020102020204" pitchFamily="34" charset="0"/>
              </a:rPr>
              <a:t>Фондовая </a:t>
            </a:r>
            <a:r>
              <a:rPr lang="ru-RU" sz="3800" b="1" dirty="0" smtClean="0">
                <a:solidFill>
                  <a:srgbClr val="FFC000"/>
                </a:solidFill>
                <a:latin typeface="Franklin Gothic Heavy" panose="020B0903020102020204" pitchFamily="34" charset="0"/>
              </a:rPr>
              <a:t>биржа -</a:t>
            </a:r>
            <a:endParaRPr lang="en-US" sz="3800" b="1" dirty="0" smtClean="0">
              <a:solidFill>
                <a:srgbClr val="FFC000"/>
              </a:solidFill>
              <a:latin typeface="Franklin Gothic Heavy" panose="020B0903020102020204" pitchFamily="34" charset="0"/>
            </a:endParaRPr>
          </a:p>
          <a:p>
            <a:r>
              <a:rPr lang="ru-RU" sz="2400" dirty="0" smtClean="0">
                <a:solidFill>
                  <a:schemeClr val="tx1"/>
                </a:solidFill>
              </a:rPr>
              <a:t>это </a:t>
            </a:r>
            <a:r>
              <a:rPr lang="ru-RU" sz="2400" dirty="0">
                <a:solidFill>
                  <a:schemeClr val="tx1"/>
                </a:solidFill>
              </a:rPr>
              <a:t>торговая площадка, на которой продаются и покупаются ценные бумаги, товары, </a:t>
            </a:r>
            <a:r>
              <a:rPr lang="ru-RU" sz="2400" dirty="0" err="1">
                <a:solidFill>
                  <a:schemeClr val="tx1"/>
                </a:solidFill>
              </a:rPr>
              <a:t>деривативы</a:t>
            </a:r>
            <a:r>
              <a:rPr lang="ru-RU" sz="2400" dirty="0">
                <a:solidFill>
                  <a:schemeClr val="tx1"/>
                </a:solidFill>
              </a:rPr>
              <a:t> и другие финансовые инструменты. Она должна обеспечивать справедливую и упорядоченную торговлю, а также эффективное распространение информации о ценах на торгующиеся активы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r>
              <a:rPr lang="ru-RU" sz="3600" dirty="0" smtClean="0">
                <a:solidFill>
                  <a:schemeClr val="tx1"/>
                </a:solidFill>
                <a:latin typeface="Franklin Gothic Heavy" panose="020B0903020102020204" pitchFamily="34" charset="0"/>
              </a:rPr>
              <a:t>Функций </a:t>
            </a:r>
            <a:r>
              <a:rPr lang="ru-RU" sz="3600" dirty="0" smtClean="0">
                <a:solidFill>
                  <a:srgbClr val="FFC000"/>
                </a:solidFill>
                <a:latin typeface="Franklin Gothic Heavy" panose="020B0903020102020204" pitchFamily="34" charset="0"/>
              </a:rPr>
              <a:t>фондовой </a:t>
            </a:r>
            <a:r>
              <a:rPr lang="ru-RU" sz="3600" dirty="0" err="1" smtClean="0">
                <a:solidFill>
                  <a:srgbClr val="FFC000"/>
                </a:solidFill>
                <a:latin typeface="Franklin Gothic Heavy" panose="020B0903020102020204" pitchFamily="34" charset="0"/>
              </a:rPr>
              <a:t>биржы</a:t>
            </a:r>
            <a:r>
              <a:rPr lang="ru-RU" sz="3600" dirty="0" smtClean="0">
                <a:solidFill>
                  <a:srgbClr val="FFC000"/>
                </a:solidFill>
                <a:latin typeface="Franklin Gothic Heavy" panose="020B0903020102020204" pitchFamily="34" charset="0"/>
              </a:rPr>
              <a:t> –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FFC000"/>
                </a:solidFill>
              </a:rPr>
              <a:t>Обеспечение </a:t>
            </a:r>
            <a:r>
              <a:rPr lang="ru-RU" b="1" dirty="0">
                <a:solidFill>
                  <a:schemeClr val="tx1"/>
                </a:solidFill>
              </a:rPr>
              <a:t>ликвидности капитала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1" dirty="0" smtClean="0">
                <a:solidFill>
                  <a:srgbClr val="FFC000"/>
                </a:solidFill>
              </a:rPr>
              <a:t>Оценка </a:t>
            </a:r>
            <a:r>
              <a:rPr lang="ru-RU" b="1" dirty="0" smtClean="0">
                <a:solidFill>
                  <a:schemeClr val="tx1"/>
                </a:solidFill>
              </a:rPr>
              <a:t>стоимости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1" dirty="0">
                <a:solidFill>
                  <a:srgbClr val="FFC000"/>
                </a:solidFill>
              </a:rPr>
              <a:t>Мобилизация </a:t>
            </a:r>
            <a:r>
              <a:rPr lang="ru-RU" b="1" dirty="0">
                <a:solidFill>
                  <a:schemeClr val="tx1"/>
                </a:solidFill>
              </a:rPr>
              <a:t>избыточных </a:t>
            </a:r>
            <a:r>
              <a:rPr lang="ru-RU" b="1" dirty="0" smtClean="0">
                <a:solidFill>
                  <a:schemeClr val="tx1"/>
                </a:solidFill>
              </a:rPr>
              <a:t>сбережений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ru-RU" b="1" dirty="0">
                <a:solidFill>
                  <a:srgbClr val="FFC000"/>
                </a:solidFill>
              </a:rPr>
              <a:t>Привлечение </a:t>
            </a:r>
            <a:r>
              <a:rPr lang="ru-RU" b="1" dirty="0">
                <a:solidFill>
                  <a:schemeClr val="tx1"/>
                </a:solidFill>
              </a:rPr>
              <a:t>нового капитала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FFC000"/>
                </a:solidFill>
              </a:rPr>
              <a:t>Иностранный </a:t>
            </a:r>
            <a:r>
              <a:rPr lang="ru-RU" b="1" dirty="0" smtClean="0">
                <a:solidFill>
                  <a:schemeClr val="tx1"/>
                </a:solidFill>
              </a:rPr>
              <a:t>капитал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FFC000"/>
                </a:solidFill>
              </a:rPr>
              <a:t>Контроль над </a:t>
            </a:r>
            <a:r>
              <a:rPr lang="ru-RU" b="1" dirty="0" smtClean="0">
                <a:solidFill>
                  <a:schemeClr val="tx1"/>
                </a:solidFill>
              </a:rPr>
              <a:t>компаниями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FFC000"/>
                </a:solidFill>
              </a:rPr>
              <a:t>Распространение </a:t>
            </a:r>
            <a:r>
              <a:rPr lang="ru-RU" b="1" dirty="0" smtClean="0">
                <a:solidFill>
                  <a:schemeClr val="tx1"/>
                </a:solidFill>
              </a:rPr>
              <a:t>инвестирования</a:t>
            </a: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  <a:p>
            <a:r>
              <a:rPr lang="ru-RU" sz="2000" dirty="0"/>
              <a:t/>
            </a:r>
            <a:br>
              <a:rPr lang="ru-RU" sz="2000" dirty="0"/>
            </a:br>
            <a:endParaRPr lang="ru-RU" sz="2000" dirty="0">
              <a:solidFill>
                <a:srgbClr val="FFC000"/>
              </a:solidFill>
            </a:endParaRPr>
          </a:p>
        </p:txBody>
      </p:sp>
      <p:pic>
        <p:nvPicPr>
          <p:cNvPr id="3" name="Рисунок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31" r="272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224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C82F57-905B-42D8-BDF5-BC2D91FE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B050"/>
                </a:solidFill>
                <a:latin typeface="Franklin Gothic Heavy" panose="020B0903020102020204" pitchFamily="34" charset="0"/>
              </a:rPr>
              <a:t>История Фондовой </a:t>
            </a:r>
            <a:r>
              <a:rPr lang="ru-RU" dirty="0">
                <a:solidFill>
                  <a:schemeClr val="tx1"/>
                </a:solidFill>
                <a:latin typeface="Franklin Gothic Heavy" panose="020B0903020102020204" pitchFamily="34" charset="0"/>
              </a:rPr>
              <a:t>биржи Молдовы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6FB7782-3F87-4384-B904-84793D6D6F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6000" y="1764000"/>
            <a:ext cx="6525000" cy="3644999"/>
          </a:xfrm>
        </p:spPr>
        <p:txBody>
          <a:bodyPr>
            <a:normAutofit fontScale="92500" lnSpcReduction="10000"/>
          </a:bodyPr>
          <a:lstStyle/>
          <a:p>
            <a:r>
              <a:rPr lang="uk-UA">
                <a:solidFill>
                  <a:schemeClr val="tx1"/>
                </a:solidFill>
              </a:rPr>
              <a:t>В декабре 1994 года на основании Закона о движении ценных бумаг и фондовых бирж была создана Молдавская фондовая биржа (БФБ), представляющая собой закрытое акционерное общество. </a:t>
            </a:r>
            <a:r>
              <a:rPr lang="uk-UA" dirty="0">
                <a:solidFill>
                  <a:schemeClr val="tx1"/>
                </a:solidFill>
              </a:rPr>
              <a:t>В </a:t>
            </a:r>
            <a:r>
              <a:rPr lang="uk-UA" dirty="0" err="1">
                <a:solidFill>
                  <a:schemeClr val="tx1"/>
                </a:solidFill>
              </a:rPr>
              <a:t>создании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биржи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приняли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участие</a:t>
            </a:r>
            <a:r>
              <a:rPr lang="uk-UA" dirty="0">
                <a:solidFill>
                  <a:schemeClr val="tx1"/>
                </a:solidFill>
              </a:rPr>
              <a:t> 34 </a:t>
            </a:r>
            <a:r>
              <a:rPr lang="uk-UA" dirty="0" err="1">
                <a:solidFill>
                  <a:schemeClr val="tx1"/>
                </a:solidFill>
              </a:rPr>
              <a:t>учредителя</a:t>
            </a:r>
            <a:r>
              <a:rPr lang="uk-UA" dirty="0">
                <a:solidFill>
                  <a:schemeClr val="tx1"/>
                </a:solidFill>
              </a:rPr>
              <a:t> - </a:t>
            </a:r>
            <a:r>
              <a:rPr lang="uk-UA" dirty="0" err="1">
                <a:solidFill>
                  <a:schemeClr val="tx1"/>
                </a:solidFill>
              </a:rPr>
              <a:t>профессиональные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участники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рынка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ценных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бумаг</a:t>
            </a:r>
            <a:r>
              <a:rPr lang="uk-UA" dirty="0">
                <a:solidFill>
                  <a:schemeClr val="tx1"/>
                </a:solidFill>
              </a:rPr>
              <a:t>. </a:t>
            </a:r>
            <a:r>
              <a:rPr lang="uk-UA" dirty="0" err="1">
                <a:solidFill>
                  <a:schemeClr val="tx1"/>
                </a:solidFill>
              </a:rPr>
              <a:t>Первые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переговоры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состоялись</a:t>
            </a:r>
            <a:r>
              <a:rPr lang="uk-UA" dirty="0">
                <a:solidFill>
                  <a:schemeClr val="tx1"/>
                </a:solidFill>
              </a:rPr>
              <a:t> 26 </a:t>
            </a:r>
            <a:r>
              <a:rPr lang="uk-UA" dirty="0" err="1">
                <a:solidFill>
                  <a:schemeClr val="tx1"/>
                </a:solidFill>
              </a:rPr>
              <a:t>июня</a:t>
            </a:r>
            <a:r>
              <a:rPr lang="uk-UA" dirty="0">
                <a:solidFill>
                  <a:schemeClr val="tx1"/>
                </a:solidFill>
              </a:rPr>
              <a:t> 1995 </a:t>
            </a:r>
            <a:r>
              <a:rPr lang="uk-UA" dirty="0" err="1">
                <a:solidFill>
                  <a:schemeClr val="tx1"/>
                </a:solidFill>
              </a:rPr>
              <a:t>года</a:t>
            </a:r>
            <a:r>
              <a:rPr lang="uk-UA" dirty="0">
                <a:solidFill>
                  <a:schemeClr val="tx1"/>
                </a:solidFill>
              </a:rPr>
              <a:t>, </a:t>
            </a:r>
            <a:r>
              <a:rPr lang="uk-UA" dirty="0" err="1">
                <a:solidFill>
                  <a:schemeClr val="tx1"/>
                </a:solidFill>
              </a:rPr>
              <a:t>считающегося</a:t>
            </a:r>
            <a:r>
              <a:rPr lang="uk-UA" dirty="0">
                <a:solidFill>
                  <a:schemeClr val="tx1"/>
                </a:solidFill>
              </a:rPr>
              <a:t> днем ​​«</a:t>
            </a:r>
            <a:r>
              <a:rPr lang="uk-UA" dirty="0" err="1">
                <a:solidFill>
                  <a:schemeClr val="tx1"/>
                </a:solidFill>
              </a:rPr>
              <a:t>рождения</a:t>
            </a:r>
            <a:r>
              <a:rPr lang="uk-UA" dirty="0">
                <a:solidFill>
                  <a:schemeClr val="tx1"/>
                </a:solidFill>
              </a:rPr>
              <a:t>» </a:t>
            </a:r>
            <a:r>
              <a:rPr lang="uk-UA" dirty="0" err="1">
                <a:solidFill>
                  <a:schemeClr val="tx1"/>
                </a:solidFill>
              </a:rPr>
              <a:t>Молдавской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фондовой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биржи</a:t>
            </a:r>
            <a:r>
              <a:rPr lang="uk-UA" dirty="0">
                <a:solidFill>
                  <a:schemeClr val="tx1"/>
                </a:solidFill>
              </a:rPr>
              <a:t>.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074" name="Picture 2" descr="Фондовая Биржа Молдов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000" y="1989000"/>
            <a:ext cx="2160000" cy="221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74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1F0DAD7-164D-4948-88C2-5ECAB3ED7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49" y="594000"/>
            <a:ext cx="6493500" cy="121499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Franklin Gothic Heavy" panose="020B0903020102020204" pitchFamily="34" charset="0"/>
              </a:rPr>
              <a:t>Подразделения </a:t>
            </a:r>
            <a:r>
              <a:rPr lang="ru-RU" dirty="0">
                <a:solidFill>
                  <a:srgbClr val="92D050"/>
                </a:solidFill>
                <a:latin typeface="Franklin Gothic Heavy" panose="020B0903020102020204" pitchFamily="34" charset="0"/>
              </a:rPr>
              <a:t>ФБМ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F3AD87D-350F-4C80-8BB2-D5FBFD56D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0" lvl="1">
              <a:spcBef>
                <a:spcPts val="1000"/>
              </a:spcBef>
            </a:pPr>
            <a:r>
              <a:rPr lang="uk-UA" b="1" dirty="0">
                <a:solidFill>
                  <a:schemeClr val="tx1"/>
                </a:solidFill>
              </a:rPr>
              <a:t>В </a:t>
            </a:r>
            <a:r>
              <a:rPr lang="uk-UA" b="1" dirty="0" err="1">
                <a:solidFill>
                  <a:schemeClr val="tx1"/>
                </a:solidFill>
              </a:rPr>
              <a:t>настоящее</a:t>
            </a:r>
            <a:r>
              <a:rPr lang="uk-UA" b="1" dirty="0">
                <a:solidFill>
                  <a:schemeClr val="tx1"/>
                </a:solidFill>
              </a:rPr>
              <a:t> </a:t>
            </a:r>
            <a:r>
              <a:rPr lang="uk-UA" b="1" dirty="0" err="1">
                <a:solidFill>
                  <a:schemeClr val="tx1"/>
                </a:solidFill>
              </a:rPr>
              <a:t>время</a:t>
            </a:r>
            <a:r>
              <a:rPr lang="uk-UA" b="1" dirty="0">
                <a:solidFill>
                  <a:schemeClr val="tx1"/>
                </a:solidFill>
              </a:rPr>
              <a:t> в составе </a:t>
            </a:r>
            <a:r>
              <a:rPr lang="uk-UA" b="1" dirty="0" err="1">
                <a:solidFill>
                  <a:schemeClr val="tx1"/>
                </a:solidFill>
              </a:rPr>
              <a:t>Фондовой</a:t>
            </a:r>
            <a:r>
              <a:rPr lang="uk-UA" b="1" dirty="0">
                <a:solidFill>
                  <a:schemeClr val="tx1"/>
                </a:solidFill>
              </a:rPr>
              <a:t> </a:t>
            </a:r>
            <a:r>
              <a:rPr lang="uk-UA" b="1" dirty="0" err="1">
                <a:solidFill>
                  <a:schemeClr val="tx1"/>
                </a:solidFill>
              </a:rPr>
              <a:t>биржи</a:t>
            </a:r>
            <a:r>
              <a:rPr lang="uk-UA" b="1" dirty="0">
                <a:solidFill>
                  <a:schemeClr val="tx1"/>
                </a:solidFill>
              </a:rPr>
              <a:t> </a:t>
            </a:r>
            <a:r>
              <a:rPr lang="uk-UA" b="1" dirty="0" err="1" smtClean="0">
                <a:solidFill>
                  <a:schemeClr val="tx1"/>
                </a:solidFill>
              </a:rPr>
              <a:t>Молдовы</a:t>
            </a:r>
            <a:r>
              <a:rPr lang="uk-UA" b="1" smtClean="0">
                <a:solidFill>
                  <a:schemeClr val="tx1"/>
                </a:solidFill>
              </a:rPr>
              <a:t> действуют</a:t>
            </a:r>
            <a:r>
              <a:rPr lang="uk-UA" b="1" dirty="0" smtClean="0">
                <a:solidFill>
                  <a:schemeClr val="tx1"/>
                </a:solidFill>
              </a:rPr>
              <a:t> </a:t>
            </a:r>
            <a:r>
              <a:rPr lang="uk-UA" b="1" dirty="0" err="1">
                <a:solidFill>
                  <a:schemeClr val="tx1"/>
                </a:solidFill>
              </a:rPr>
              <a:t>следующие</a:t>
            </a:r>
            <a:r>
              <a:rPr lang="uk-UA" b="1" dirty="0">
                <a:solidFill>
                  <a:schemeClr val="tx1"/>
                </a:solidFill>
              </a:rPr>
              <a:t> </a:t>
            </a:r>
            <a:r>
              <a:rPr lang="uk-UA" b="1" dirty="0" err="1">
                <a:solidFill>
                  <a:schemeClr val="tx1"/>
                </a:solidFill>
              </a:rPr>
              <a:t>подразделения</a:t>
            </a:r>
            <a:r>
              <a:rPr lang="uk-UA" b="1" dirty="0">
                <a:solidFill>
                  <a:schemeClr val="tx1"/>
                </a:solidFill>
              </a:rPr>
              <a:t> и </a:t>
            </a:r>
            <a:r>
              <a:rPr lang="uk-UA" b="1" dirty="0" err="1">
                <a:solidFill>
                  <a:schemeClr val="tx1"/>
                </a:solidFill>
              </a:rPr>
              <a:t>отделы</a:t>
            </a:r>
            <a:r>
              <a:rPr lang="uk-UA" b="1" dirty="0">
                <a:solidFill>
                  <a:schemeClr val="tx1"/>
                </a:solidFill>
              </a:rPr>
              <a:t>:</a:t>
            </a:r>
            <a:endParaRPr lang="ru-RU">
              <a:solidFill>
                <a:schemeClr val="tx1"/>
              </a:solidFill>
            </a:endParaRPr>
          </a:p>
          <a:p>
            <a:endParaRPr lang="ru-RU" sz="2000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4155ACF-57B6-4F35-8EEB-91864D703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5999" y="459000"/>
            <a:ext cx="4410001" cy="6399000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550" dirty="0">
                <a:solidFill>
                  <a:schemeClr val="tx1"/>
                </a:solidFill>
                <a:latin typeface="+mj-lt"/>
              </a:rPr>
              <a:t>Департамент листинга, маркетинга и листинга - занимается регистрацией ценных бумаг на фондовой бирже, исследованием и листингом ценных бумаг на фондовой бирже</a:t>
            </a:r>
            <a:r>
              <a:rPr lang="ru-RU" sz="1550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550" dirty="0">
                <a:solidFill>
                  <a:schemeClr val="tx1"/>
                </a:solidFill>
                <a:latin typeface="+mj-lt"/>
              </a:rPr>
              <a:t>Департамент клиринга и расчетов представляет собой совокупность действий, предпринимаемых специализированным Департаментом биржи в целях сбора, проверки, исправления и подтверждения информации о торгах ценными бумагами на </a:t>
            </a:r>
            <a:r>
              <a:rPr lang="ru-RU" sz="1550" dirty="0" smtClean="0">
                <a:solidFill>
                  <a:schemeClr val="tx1"/>
                </a:solidFill>
                <a:latin typeface="+mj-lt"/>
              </a:rPr>
              <a:t>Бирже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550" dirty="0">
                <a:solidFill>
                  <a:schemeClr val="tx1"/>
                </a:solidFill>
                <a:latin typeface="+mj-lt"/>
              </a:rPr>
              <a:t>Департамент надзора за рынком выполняет следующие функции: соблюдение соответствия норм и требований законодательства осуществлению деятельности Биржи и ее </a:t>
            </a:r>
            <a:r>
              <a:rPr lang="ru-RU" sz="1550" dirty="0" smtClean="0">
                <a:solidFill>
                  <a:schemeClr val="tx1"/>
                </a:solidFill>
                <a:latin typeface="+mj-lt"/>
              </a:rPr>
              <a:t>Членов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uk-UA" sz="1550">
                <a:solidFill>
                  <a:schemeClr val="tx1"/>
                </a:solidFill>
                <a:latin typeface="+mj-lt"/>
              </a:rPr>
              <a:t>Отдел электронных систем. 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В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функции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соответствующего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отдела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входит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надзор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и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поддержка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электронной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системы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торгов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на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фондовой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 </a:t>
            </a:r>
            <a:r>
              <a:rPr lang="uk-UA" sz="1550" dirty="0" err="1">
                <a:solidFill>
                  <a:schemeClr val="tx1"/>
                </a:solidFill>
                <a:latin typeface="+mj-lt"/>
              </a:rPr>
              <a:t>бирже</a:t>
            </a:r>
            <a:r>
              <a:rPr lang="uk-UA" sz="1550" dirty="0">
                <a:solidFill>
                  <a:schemeClr val="tx1"/>
                </a:solidFill>
                <a:latin typeface="+mj-lt"/>
              </a:rPr>
              <a:t>.</a:t>
            </a:r>
            <a:endParaRPr lang="ru-RU" sz="1550">
              <a:solidFill>
                <a:schemeClr val="tx1"/>
              </a:solidFill>
              <a:latin typeface="+mj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ru-RU" sz="15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100" name="Picture 4" descr="Объем торгов на фондовой бирже за прошедшую неделю вырос в восемь раз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00" y="3665806"/>
            <a:ext cx="5625000" cy="294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99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ABE1DD15-BAC6-4A09-8F96-81ED301B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74" y="363655"/>
            <a:ext cx="7583926" cy="8550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  <a:latin typeface="Franklin Gothic Heavy" panose="020B0903020102020204" pitchFamily="34" charset="0"/>
              </a:rPr>
              <a:t>Проведение </a:t>
            </a:r>
            <a:r>
              <a:rPr lang="ru-RU" dirty="0">
                <a:solidFill>
                  <a:srgbClr val="92D050"/>
                </a:solidFill>
                <a:latin typeface="Franklin Gothic Heavy" panose="020B0903020102020204" pitchFamily="34" charset="0"/>
              </a:rPr>
              <a:t>торгов на  ФБМ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0A108B47-6F7E-45CB-8AA0-06B2B6190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7874" y="1404000"/>
            <a:ext cx="7278301" cy="1305000"/>
          </a:xfrm>
        </p:spPr>
        <p:txBody>
          <a:bodyPr>
            <a:normAutofit fontScale="62500" lnSpcReduction="20000"/>
          </a:bodyPr>
          <a:lstStyle/>
          <a:p>
            <a:r>
              <a:rPr lang="uk-UA">
                <a:solidFill>
                  <a:schemeClr val="tx1"/>
                </a:solidFill>
              </a:rPr>
              <a:t>Для проведения торгов биржа использует компьютерную программу АТС (автоматизированная торговая система). </a:t>
            </a:r>
            <a:r>
              <a:rPr lang="uk-UA" dirty="0">
                <a:solidFill>
                  <a:schemeClr val="tx1"/>
                </a:solidFill>
              </a:rPr>
              <a:t>АТС </a:t>
            </a:r>
            <a:r>
              <a:rPr lang="uk-UA" dirty="0" err="1">
                <a:solidFill>
                  <a:schemeClr val="tx1"/>
                </a:solidFill>
              </a:rPr>
              <a:t>функционирует</a:t>
            </a:r>
            <a:r>
              <a:rPr lang="uk-UA" dirty="0">
                <a:solidFill>
                  <a:schemeClr val="tx1"/>
                </a:solidFill>
              </a:rPr>
              <a:t> с 10:00 до 15:00 </a:t>
            </a:r>
            <a:r>
              <a:rPr lang="uk-UA" dirty="0" err="1">
                <a:solidFill>
                  <a:schemeClr val="tx1"/>
                </a:solidFill>
              </a:rPr>
              <a:t>часов</a:t>
            </a:r>
            <a:r>
              <a:rPr lang="uk-UA" dirty="0">
                <a:solidFill>
                  <a:schemeClr val="tx1"/>
                </a:solidFill>
              </a:rPr>
              <a:t> с </a:t>
            </a:r>
            <a:r>
              <a:rPr lang="uk-UA" dirty="0" err="1">
                <a:solidFill>
                  <a:schemeClr val="tx1"/>
                </a:solidFill>
              </a:rPr>
              <a:t>понедельника</a:t>
            </a:r>
            <a:r>
              <a:rPr lang="uk-UA" dirty="0">
                <a:solidFill>
                  <a:schemeClr val="tx1"/>
                </a:solidFill>
              </a:rPr>
              <a:t> и до </a:t>
            </a:r>
            <a:r>
              <a:rPr lang="uk-UA" dirty="0" err="1">
                <a:solidFill>
                  <a:schemeClr val="tx1"/>
                </a:solidFill>
              </a:rPr>
              <a:t>пятницы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включительно</a:t>
            </a:r>
            <a:r>
              <a:rPr lang="uk-UA" dirty="0">
                <a:solidFill>
                  <a:schemeClr val="tx1"/>
                </a:solidFill>
              </a:rPr>
              <a:t>. </a:t>
            </a:r>
            <a:r>
              <a:rPr lang="uk-UA" dirty="0" err="1">
                <a:solidFill>
                  <a:schemeClr val="tx1"/>
                </a:solidFill>
              </a:rPr>
              <a:t>Исключение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составляют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дни</a:t>
            </a:r>
            <a:r>
              <a:rPr lang="uk-UA" dirty="0">
                <a:solidFill>
                  <a:schemeClr val="tx1"/>
                </a:solidFill>
              </a:rPr>
              <a:t>, </a:t>
            </a:r>
            <a:r>
              <a:rPr lang="uk-UA" dirty="0" err="1">
                <a:solidFill>
                  <a:schemeClr val="tx1"/>
                </a:solidFill>
              </a:rPr>
              <a:t>объявленные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официально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праздничными</a:t>
            </a:r>
            <a:r>
              <a:rPr lang="uk-UA" dirty="0">
                <a:solidFill>
                  <a:schemeClr val="tx1"/>
                </a:solidFill>
              </a:rPr>
              <a:t>. Президент </a:t>
            </a:r>
            <a:r>
              <a:rPr lang="uk-UA" dirty="0" err="1">
                <a:solidFill>
                  <a:schemeClr val="tx1"/>
                </a:solidFill>
              </a:rPr>
              <a:t>биржи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вправе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изменять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расписание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работы</a:t>
            </a:r>
            <a:r>
              <a:rPr lang="uk-UA" dirty="0">
                <a:solidFill>
                  <a:schemeClr val="tx1"/>
                </a:solidFill>
              </a:rPr>
              <a:t> АТС в </a:t>
            </a:r>
            <a:r>
              <a:rPr lang="uk-UA" dirty="0" err="1">
                <a:solidFill>
                  <a:schemeClr val="tx1"/>
                </a:solidFill>
              </a:rPr>
              <a:t>случаях</a:t>
            </a:r>
            <a:r>
              <a:rPr lang="uk-UA" dirty="0">
                <a:solidFill>
                  <a:schemeClr val="tx1"/>
                </a:solidFill>
              </a:rPr>
              <a:t>, </a:t>
            </a:r>
            <a:r>
              <a:rPr lang="uk-UA" dirty="0" err="1">
                <a:solidFill>
                  <a:schemeClr val="tx1"/>
                </a:solidFill>
              </a:rPr>
              <a:t>необходимых</a:t>
            </a:r>
            <a:r>
              <a:rPr lang="uk-UA" dirty="0">
                <a:solidFill>
                  <a:schemeClr val="tx1"/>
                </a:solidFill>
              </a:rPr>
              <a:t> для </a:t>
            </a:r>
            <a:r>
              <a:rPr lang="uk-UA" dirty="0" err="1">
                <a:solidFill>
                  <a:schemeClr val="tx1"/>
                </a:solidFill>
              </a:rPr>
              <a:t>успешного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проведения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торгов</a:t>
            </a:r>
            <a:r>
              <a:rPr lang="uk-UA" dirty="0">
                <a:solidFill>
                  <a:schemeClr val="tx1"/>
                </a:solidFill>
              </a:rPr>
              <a:t> на ФБМ.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7317E7-C8B3-4D03-BC0D-B436D87620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8"/>
          <a:stretch/>
        </p:blipFill>
        <p:spPr>
          <a:xfrm>
            <a:off x="8108775" y="732302"/>
            <a:ext cx="3698551" cy="5306698"/>
          </a:xfrm>
        </p:spPr>
      </p:pic>
      <p:sp>
        <p:nvSpPr>
          <p:cNvPr id="5" name="Текст 12">
            <a:extLst>
              <a:ext uri="{FF2B5EF4-FFF2-40B4-BE49-F238E27FC236}">
                <a16:creationId xmlns:a16="http://schemas.microsoft.com/office/drawing/2014/main" id="{59257057-0D1B-4E2E-830C-F6FD807EA10E}"/>
              </a:ext>
            </a:extLst>
          </p:cNvPr>
          <p:cNvSpPr txBox="1">
            <a:spLocks/>
          </p:cNvSpPr>
          <p:nvPr/>
        </p:nvSpPr>
        <p:spPr>
          <a:xfrm>
            <a:off x="624674" y="3429000"/>
            <a:ext cx="7261501" cy="2835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Биржевая </a:t>
            </a:r>
            <a:r>
              <a:rPr lang="ru-RU" b="1" dirty="0" smtClean="0"/>
              <a:t>сделка</a:t>
            </a:r>
          </a:p>
          <a:p>
            <a:r>
              <a:rPr lang="uk-UA" dirty="0" err="1">
                <a:solidFill>
                  <a:schemeClr val="tx1"/>
                </a:solidFill>
              </a:rPr>
              <a:t>Биржевая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сделка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осуществляется</a:t>
            </a:r>
            <a:r>
              <a:rPr lang="uk-UA" dirty="0">
                <a:solidFill>
                  <a:schemeClr val="tx1"/>
                </a:solidFill>
              </a:rPr>
              <a:t> на </a:t>
            </a:r>
            <a:r>
              <a:rPr lang="uk-UA" dirty="0" err="1">
                <a:solidFill>
                  <a:schemeClr val="tx1"/>
                </a:solidFill>
              </a:rPr>
              <a:t>основе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поручения</a:t>
            </a:r>
            <a:r>
              <a:rPr lang="uk-UA" dirty="0">
                <a:solidFill>
                  <a:schemeClr val="tx1"/>
                </a:solidFill>
              </a:rPr>
              <a:t>, </a:t>
            </a:r>
            <a:r>
              <a:rPr lang="uk-UA" dirty="0" err="1">
                <a:solidFill>
                  <a:schemeClr val="tx1"/>
                </a:solidFill>
              </a:rPr>
              <a:t>введённого</a:t>
            </a:r>
            <a:r>
              <a:rPr lang="uk-UA" dirty="0">
                <a:solidFill>
                  <a:schemeClr val="tx1"/>
                </a:solidFill>
              </a:rPr>
              <a:t> в АТС </a:t>
            </a:r>
            <a:r>
              <a:rPr lang="uk-UA" dirty="0" err="1">
                <a:solidFill>
                  <a:schemeClr val="tx1"/>
                </a:solidFill>
              </a:rPr>
              <a:t>биржевым</a:t>
            </a:r>
            <a:r>
              <a:rPr lang="uk-UA" dirty="0">
                <a:solidFill>
                  <a:schemeClr val="tx1"/>
                </a:solidFill>
              </a:rPr>
              <a:t> агентом от </a:t>
            </a:r>
            <a:r>
              <a:rPr lang="uk-UA" dirty="0" err="1">
                <a:solidFill>
                  <a:schemeClr val="tx1"/>
                </a:solidFill>
              </a:rPr>
              <a:t>имени</a:t>
            </a:r>
            <a:r>
              <a:rPr lang="uk-UA" dirty="0">
                <a:solidFill>
                  <a:schemeClr val="tx1"/>
                </a:solidFill>
              </a:rPr>
              <a:t> члена </a:t>
            </a:r>
            <a:r>
              <a:rPr lang="uk-UA" dirty="0" err="1">
                <a:solidFill>
                  <a:schemeClr val="tx1"/>
                </a:solidFill>
              </a:rPr>
              <a:t>биржи</a:t>
            </a:r>
            <a:r>
              <a:rPr lang="uk-UA" dirty="0">
                <a:solidFill>
                  <a:schemeClr val="tx1"/>
                </a:solidFill>
              </a:rPr>
              <a:t>. </a:t>
            </a:r>
            <a:r>
              <a:rPr lang="uk-UA" dirty="0" err="1">
                <a:solidFill>
                  <a:schemeClr val="tx1"/>
                </a:solidFill>
              </a:rPr>
              <a:t>Биржевое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поручение</a:t>
            </a:r>
            <a:r>
              <a:rPr lang="uk-UA" dirty="0">
                <a:solidFill>
                  <a:schemeClr val="tx1"/>
                </a:solidFill>
              </a:rPr>
              <a:t> – </a:t>
            </a:r>
            <a:r>
              <a:rPr lang="uk-UA" dirty="0" err="1">
                <a:solidFill>
                  <a:schemeClr val="tx1"/>
                </a:solidFill>
              </a:rPr>
              <a:t>это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инструкция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касательно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предложения</a:t>
            </a:r>
            <a:r>
              <a:rPr lang="uk-UA" dirty="0">
                <a:solidFill>
                  <a:schemeClr val="tx1"/>
                </a:solidFill>
              </a:rPr>
              <a:t> на покупку </a:t>
            </a:r>
            <a:r>
              <a:rPr lang="uk-UA" dirty="0" err="1">
                <a:solidFill>
                  <a:schemeClr val="tx1"/>
                </a:solidFill>
              </a:rPr>
              <a:t>или</a:t>
            </a:r>
            <a:r>
              <a:rPr lang="uk-UA" dirty="0">
                <a:solidFill>
                  <a:schemeClr val="tx1"/>
                </a:solidFill>
              </a:rPr>
              <a:t> продажу </a:t>
            </a:r>
            <a:r>
              <a:rPr lang="uk-UA" dirty="0" err="1">
                <a:solidFill>
                  <a:schemeClr val="tx1"/>
                </a:solidFill>
              </a:rPr>
              <a:t>ценных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бумаг</a:t>
            </a:r>
            <a:r>
              <a:rPr lang="uk-UA" dirty="0">
                <a:solidFill>
                  <a:schemeClr val="tx1"/>
                </a:solidFill>
              </a:rPr>
              <a:t>, </a:t>
            </a:r>
            <a:r>
              <a:rPr lang="uk-UA" dirty="0" err="1">
                <a:solidFill>
                  <a:schemeClr val="tx1"/>
                </a:solidFill>
              </a:rPr>
              <a:t>обращающихся</a:t>
            </a:r>
            <a:r>
              <a:rPr lang="uk-UA" dirty="0">
                <a:solidFill>
                  <a:schemeClr val="tx1"/>
                </a:solidFill>
              </a:rPr>
              <a:t> на </a:t>
            </a:r>
            <a:r>
              <a:rPr lang="uk-UA" dirty="0" err="1">
                <a:solidFill>
                  <a:schemeClr val="tx1"/>
                </a:solidFill>
              </a:rPr>
              <a:t>бирже</a:t>
            </a:r>
            <a:r>
              <a:rPr lang="uk-UA" dirty="0">
                <a:solidFill>
                  <a:schemeClr val="tx1"/>
                </a:solidFill>
              </a:rPr>
              <a:t>, </a:t>
            </a:r>
            <a:r>
              <a:rPr lang="uk-UA" dirty="0" err="1">
                <a:solidFill>
                  <a:schemeClr val="tx1"/>
                </a:solidFill>
              </a:rPr>
              <a:t>которая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передается</a:t>
            </a:r>
            <a:r>
              <a:rPr lang="uk-UA" dirty="0">
                <a:solidFill>
                  <a:schemeClr val="tx1"/>
                </a:solidFill>
              </a:rPr>
              <a:t> от </a:t>
            </a:r>
            <a:r>
              <a:rPr lang="uk-UA" dirty="0" err="1">
                <a:solidFill>
                  <a:schemeClr val="tx1"/>
                </a:solidFill>
              </a:rPr>
              <a:t>имени</a:t>
            </a:r>
            <a:r>
              <a:rPr lang="uk-UA" dirty="0">
                <a:solidFill>
                  <a:schemeClr val="tx1"/>
                </a:solidFill>
              </a:rPr>
              <a:t> и на </a:t>
            </a:r>
            <a:r>
              <a:rPr lang="uk-UA" dirty="0" err="1">
                <a:solidFill>
                  <a:schemeClr val="tx1"/>
                </a:solidFill>
              </a:rPr>
              <a:t>счёт</a:t>
            </a:r>
            <a:r>
              <a:rPr lang="uk-UA" dirty="0">
                <a:solidFill>
                  <a:schemeClr val="tx1"/>
                </a:solidFill>
              </a:rPr>
              <a:t> члена </a:t>
            </a:r>
            <a:r>
              <a:rPr lang="uk-UA" dirty="0" err="1">
                <a:solidFill>
                  <a:schemeClr val="tx1"/>
                </a:solidFill>
              </a:rPr>
              <a:t>биржи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или</a:t>
            </a:r>
            <a:r>
              <a:rPr lang="uk-UA" dirty="0">
                <a:solidFill>
                  <a:schemeClr val="tx1"/>
                </a:solidFill>
              </a:rPr>
              <a:t> от </a:t>
            </a:r>
            <a:r>
              <a:rPr lang="uk-UA" dirty="0" err="1">
                <a:solidFill>
                  <a:schemeClr val="tx1"/>
                </a:solidFill>
              </a:rPr>
              <a:t>имени</a:t>
            </a:r>
            <a:r>
              <a:rPr lang="uk-UA" dirty="0">
                <a:solidFill>
                  <a:schemeClr val="tx1"/>
                </a:solidFill>
              </a:rPr>
              <a:t> члена и на </a:t>
            </a:r>
            <a:r>
              <a:rPr lang="uk-UA" dirty="0" err="1">
                <a:solidFill>
                  <a:schemeClr val="tx1"/>
                </a:solidFill>
              </a:rPr>
              <a:t>счёт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клиента</a:t>
            </a:r>
            <a:r>
              <a:rPr lang="uk-UA" dirty="0">
                <a:solidFill>
                  <a:schemeClr val="tx1"/>
                </a:solidFill>
              </a:rPr>
              <a:t>. </a:t>
            </a:r>
            <a:r>
              <a:rPr lang="uk-UA" dirty="0" err="1">
                <a:solidFill>
                  <a:schemeClr val="tx1"/>
                </a:solidFill>
              </a:rPr>
              <a:t>Каждое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полученное</a:t>
            </a:r>
            <a:r>
              <a:rPr lang="uk-UA" dirty="0">
                <a:solidFill>
                  <a:schemeClr val="tx1"/>
                </a:solidFill>
              </a:rPr>
              <a:t> от </a:t>
            </a:r>
            <a:r>
              <a:rPr lang="uk-UA" dirty="0" err="1">
                <a:solidFill>
                  <a:schemeClr val="tx1"/>
                </a:solidFill>
              </a:rPr>
              <a:t>клиента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поручение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должно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быть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немедленно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зарегистрировано</a:t>
            </a:r>
            <a:r>
              <a:rPr lang="uk-UA" dirty="0">
                <a:solidFill>
                  <a:schemeClr val="tx1"/>
                </a:solidFill>
              </a:rPr>
              <a:t> в </a:t>
            </a:r>
            <a:r>
              <a:rPr lang="uk-UA" dirty="0" err="1">
                <a:solidFill>
                  <a:schemeClr val="tx1"/>
                </a:solidFill>
              </a:rPr>
              <a:t>реестрах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внутреннего</a:t>
            </a:r>
            <a:r>
              <a:rPr lang="uk-UA" dirty="0">
                <a:solidFill>
                  <a:schemeClr val="tx1"/>
                </a:solidFill>
              </a:rPr>
              <a:t> </a:t>
            </a:r>
            <a:r>
              <a:rPr lang="uk-UA" dirty="0" err="1">
                <a:solidFill>
                  <a:schemeClr val="tx1"/>
                </a:solidFill>
              </a:rPr>
              <a:t>использования</a:t>
            </a:r>
            <a:r>
              <a:rPr lang="uk-UA" dirty="0">
                <a:solidFill>
                  <a:schemeClr val="tx1"/>
                </a:solidFill>
              </a:rPr>
              <a:t> члена. 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21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C0119D5-A553-4A90-A3F7-6A3B96ADA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60259" y="1369009"/>
            <a:ext cx="7261501" cy="766144"/>
          </a:xfrm>
        </p:spPr>
        <p:txBody>
          <a:bodyPr>
            <a:normAutofit fontScale="77500" lnSpcReduction="20000"/>
          </a:bodyPr>
          <a:lstStyle/>
          <a:p>
            <a:r>
              <a:rPr lang="uk-UA"/>
              <a:t>По виду ценных бумаг, которые находятся в обращении </a:t>
            </a:r>
            <a:r>
              <a:rPr lang="ru-RU"/>
              <a:t>ФБМ</a:t>
            </a:r>
            <a:r>
              <a:rPr lang="uk-UA"/>
              <a:t>, можно выделить следующие категории рынков: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285484-440D-4500-93D8-F4C30D8B16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6000" y="3617466"/>
            <a:ext cx="7351502" cy="2691533"/>
          </a:xfrm>
        </p:spPr>
        <p:txBody>
          <a:bodyPr>
            <a:normAutofit lnSpcReduction="10000"/>
          </a:bodyPr>
          <a:lstStyle/>
          <a:p>
            <a:r>
              <a:rPr lang="uk-UA" b="1">
                <a:solidFill>
                  <a:srgbClr val="92D050"/>
                </a:solidFill>
              </a:rPr>
              <a:t>Также рынок ценных бумаг подразделяется на:</a:t>
            </a:r>
            <a:endParaRPr lang="ru-RU" b="1">
              <a:solidFill>
                <a:srgbClr val="92D050"/>
              </a:solidFill>
            </a:endParaRPr>
          </a:p>
          <a:p>
            <a:pPr lvl="0"/>
            <a:r>
              <a:rPr lang="uk-UA" sz="1800">
                <a:solidFill>
                  <a:schemeClr val="tx1"/>
                </a:solidFill>
              </a:rPr>
              <a:t>первичный рынок – предназначенный для мобилизации капитала путем реализации новых ценных бумаг;</a:t>
            </a:r>
            <a:endParaRPr lang="ru-RU" sz="1800">
              <a:solidFill>
                <a:schemeClr val="tx1"/>
              </a:solidFill>
            </a:endParaRPr>
          </a:p>
          <a:p>
            <a:pPr lvl="0"/>
            <a:r>
              <a:rPr lang="uk-UA" sz="1800">
                <a:solidFill>
                  <a:schemeClr val="tx1"/>
                </a:solidFill>
              </a:rPr>
              <a:t>вторичный рынок – предназначенный для обращения выпущенных ранее ценных бумаг;</a:t>
            </a:r>
            <a:endParaRPr lang="ru-RU" sz="1800">
              <a:solidFill>
                <a:schemeClr val="tx1"/>
              </a:solidFill>
            </a:endParaRPr>
          </a:p>
          <a:p>
            <a:r>
              <a:rPr lang="ru-RU" sz="1800" dirty="0">
                <a:solidFill>
                  <a:schemeClr val="tx1"/>
                </a:solidFill>
              </a:rPr>
              <a:t>совокупный по форме организации оборота рынок – в рамках такого рынка могут осуществлять как биржевые, так и внебиржевые операции с ценными бумагами.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A4E84-90D5-4799-831E-45DF53A0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Рынок</a:t>
            </a:r>
            <a:r>
              <a:rPr lang="ru-RU" dirty="0">
                <a:latin typeface="Franklin Gothic Heavy" panose="020B0903020102020204" pitchFamily="34" charset="0"/>
              </a:rPr>
              <a:t> </a:t>
            </a:r>
            <a:r>
              <a:rPr lang="ru-RU" dirty="0">
                <a:solidFill>
                  <a:srgbClr val="FFC000"/>
                </a:solidFill>
                <a:latin typeface="Franklin Gothic Heavy" panose="020B0903020102020204" pitchFamily="34" charset="0"/>
              </a:rPr>
              <a:t>ценных </a:t>
            </a:r>
            <a:r>
              <a:rPr lang="ru-RU" dirty="0" smtClean="0">
                <a:solidFill>
                  <a:srgbClr val="FFC000"/>
                </a:solidFill>
                <a:latin typeface="Franklin Gothic Heavy" panose="020B0903020102020204" pitchFamily="34" charset="0"/>
              </a:rPr>
              <a:t>бумаг ФБМ</a:t>
            </a:r>
            <a:endParaRPr lang="ru-RU" dirty="0">
              <a:solidFill>
                <a:srgbClr val="FFC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7C0119D5-A553-4A90-A3F7-6A3B96ADA29E}"/>
              </a:ext>
            </a:extLst>
          </p:cNvPr>
          <p:cNvSpPr txBox="1">
            <a:spLocks/>
          </p:cNvSpPr>
          <p:nvPr/>
        </p:nvSpPr>
        <p:spPr>
          <a:xfrm>
            <a:off x="4540600" y="1927575"/>
            <a:ext cx="7160741" cy="1346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uk-UA" sz="1600"/>
              <a:t>рынок </a:t>
            </a:r>
            <a:r>
              <a:rPr lang="uk-UA" sz="1600" smtClean="0"/>
              <a:t>облигаций</a:t>
            </a:r>
            <a:r>
              <a:rPr lang="en-US" sz="1600" smtClean="0"/>
              <a:t>,</a:t>
            </a:r>
            <a:r>
              <a:rPr lang="uk-UA" sz="1600" smtClean="0"/>
              <a:t>рынок акций</a:t>
            </a:r>
            <a:r>
              <a:rPr lang="en-US" sz="1600" smtClean="0"/>
              <a:t>,</a:t>
            </a:r>
            <a:r>
              <a:rPr lang="uk-UA" sz="1600" smtClean="0"/>
              <a:t>рынок варрантов</a:t>
            </a:r>
            <a:r>
              <a:rPr lang="en-US" sz="1600" smtClean="0"/>
              <a:t>,</a:t>
            </a:r>
            <a:r>
              <a:rPr lang="uk-UA" sz="1600" smtClean="0"/>
              <a:t>рынок фьючерсов</a:t>
            </a:r>
            <a:r>
              <a:rPr lang="en-US" sz="1600" smtClean="0"/>
              <a:t>,</a:t>
            </a:r>
            <a:r>
              <a:rPr lang="uk-UA" sz="1600" smtClean="0"/>
              <a:t>рынок </a:t>
            </a:r>
            <a:r>
              <a:rPr lang="uk-UA" sz="1600"/>
              <a:t>конвертируемых </a:t>
            </a:r>
            <a:r>
              <a:rPr lang="uk-UA" sz="1600" smtClean="0"/>
              <a:t>акций</a:t>
            </a:r>
            <a:r>
              <a:rPr lang="en-US" sz="1600" smtClean="0"/>
              <a:t>,</a:t>
            </a:r>
            <a:r>
              <a:rPr lang="uk-UA" sz="1600" smtClean="0"/>
              <a:t>опционы</a:t>
            </a:r>
            <a:r>
              <a:rPr lang="uk-UA" sz="1600"/>
              <a:t>.</a:t>
            </a:r>
            <a:endParaRPr lang="ru-RU" sz="1600"/>
          </a:p>
          <a:p>
            <a:endParaRPr lang="ru-RU" dirty="0"/>
          </a:p>
        </p:txBody>
      </p:sp>
      <p:pic>
        <p:nvPicPr>
          <p:cNvPr id="8" name="Рисунок 7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4" r="308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3349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00" y="1629000"/>
            <a:ext cx="7875000" cy="4466418"/>
          </a:xfrm>
          <a:prstGeom prst="rect">
            <a:avLst/>
          </a:prstGeom>
        </p:spPr>
      </p:pic>
      <p:sp>
        <p:nvSpPr>
          <p:cNvPr id="7" name="Заголовок 4">
            <a:extLst>
              <a:ext uri="{FF2B5EF4-FFF2-40B4-BE49-F238E27FC236}">
                <a16:creationId xmlns:a16="http://schemas.microsoft.com/office/drawing/2014/main" id="{D1C82F57-905B-42D8-BDF5-BC2D91FE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000" y="459000"/>
            <a:ext cx="8280000" cy="85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rgbClr val="00B050"/>
                </a:solidFill>
                <a:latin typeface="Franklin Gothic Heavy" panose="020B0903020102020204" pitchFamily="34" charset="0"/>
              </a:rPr>
              <a:t>Статистика </a:t>
            </a:r>
            <a:r>
              <a:rPr lang="ru-RU" dirty="0">
                <a:solidFill>
                  <a:srgbClr val="00B050"/>
                </a:solidFill>
                <a:latin typeface="Franklin Gothic Heavy" panose="020B0903020102020204" pitchFamily="34" charset="0"/>
              </a:rPr>
              <a:t>Фондовой </a:t>
            </a:r>
            <a:r>
              <a:rPr lang="ru-RU" dirty="0">
                <a:solidFill>
                  <a:schemeClr val="tx1"/>
                </a:solidFill>
                <a:latin typeface="Franklin Gothic Heavy" panose="020B0903020102020204" pitchFamily="34" charset="0"/>
              </a:rPr>
              <a:t>биржи </a:t>
            </a:r>
            <a:r>
              <a:rPr lang="ru-RU" dirty="0" smtClean="0">
                <a:solidFill>
                  <a:schemeClr val="tx1"/>
                </a:solidFill>
                <a:latin typeface="Franklin Gothic Heavy" panose="020B0903020102020204" pitchFamily="34" charset="0"/>
              </a:rPr>
              <a:t>Молдовы за 2022 год</a:t>
            </a:r>
            <a:endParaRPr lang="ru-RU" dirty="0">
              <a:solidFill>
                <a:schemeClr val="tx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99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D72D099-1F72-4D69-B230-B2B7E467A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00" y="2079000"/>
            <a:ext cx="10515600" cy="2745000"/>
          </a:xfrm>
        </p:spPr>
        <p:txBody>
          <a:bodyPr>
            <a:normAutofit/>
          </a:bodyPr>
          <a:lstStyle/>
          <a:p>
            <a:r>
              <a:rPr lang="ru-RU" sz="7200" dirty="0" smtClean="0"/>
              <a:t>СПАСИБО ЗА В</a:t>
            </a:r>
            <a:r>
              <a:rPr lang="ru-RU" sz="7200" dirty="0" smtClean="0"/>
              <a:t>НИМАНИЕ</a:t>
            </a:r>
            <a:endParaRPr lang="ru-RU" sz="7200" dirty="0"/>
          </a:p>
        </p:txBody>
      </p:sp>
    </p:spTree>
    <p:extLst>
      <p:ext uri="{BB962C8B-B14F-4D97-AF65-F5344CB8AC3E}">
        <p14:creationId xmlns:p14="http://schemas.microsoft.com/office/powerpoint/2010/main" val="308684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521</Words>
  <Application>Microsoft Office PowerPoint</Application>
  <PresentationFormat>Широкоэкранный</PresentationFormat>
  <Paragraphs>45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Franklin Gothic Heavy</vt:lpstr>
      <vt:lpstr>Тема Office</vt:lpstr>
      <vt:lpstr>Характеристика фондовой биржи в Республике Молдова.</vt:lpstr>
      <vt:lpstr>План презентаций</vt:lpstr>
      <vt:lpstr>Введение</vt:lpstr>
      <vt:lpstr>Презентация PowerPoint</vt:lpstr>
      <vt:lpstr>История Фондовой биржи Молдовы</vt:lpstr>
      <vt:lpstr>Подразделения ФБМ</vt:lpstr>
      <vt:lpstr>Проведение торгов на  ФБМ</vt:lpstr>
      <vt:lpstr>Рынок ценных бумаг ФБМ</vt:lpstr>
      <vt:lpstr>Статистика Фондовой биржи Молдовы за 2022 год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Юрий Козырев</dc:creator>
  <cp:lastModifiedBy>Пользователь Windows</cp:lastModifiedBy>
  <cp:revision>28</cp:revision>
  <dcterms:created xsi:type="dcterms:W3CDTF">2020-05-04T14:52:20Z</dcterms:created>
  <dcterms:modified xsi:type="dcterms:W3CDTF">2022-05-16T22:44:40Z</dcterms:modified>
</cp:coreProperties>
</file>